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Model Metrics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Metrics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E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ROC-AUC</c:v>
                  </c:pt>
                  <c:pt idx="2">
                    <c:v>Precision</c:v>
                  </c:pt>
                  <c:pt idx="3">
                    <c:v>Recall</c:v>
                  </c:pt>
                  <c:pt idx="4">
                    <c:v>F1 Score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91.64</c:v>
                </c:pt>
                <c:pt idx="1">
                  <c:v>94.24</c:v>
                </c:pt>
                <c:pt idx="2">
                  <c:v>71</c:v>
                </c:pt>
                <c:pt idx="3">
                  <c:v>43.53</c:v>
                </c:pt>
                <c:pt idx="4">
                  <c:v>53.97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2B2E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7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06240"/>
            <a:ext cx="3840480" cy="3840480"/>
          </a:xfrm>
          <a:prstGeom prst="ellipse">
            <a:avLst/>
          </a:prstGeom>
          <a:solidFill>
            <a:srgbClr val="243172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120640"/>
            <a:ext cx="2377440" cy="2377440"/>
          </a:xfrm>
          <a:prstGeom prst="ellipse">
            <a:avLst/>
          </a:prstGeom>
          <a:solidFill>
            <a:srgbClr val="2B3A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INTERNSHIP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 Bank Term Deposit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&amp; Marketing Campaign Analysis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10972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720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A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part of a Data Analysis internship, applying end-to-end analytics — from raw banking data to predictive modeling and business recommendations.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671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drives term-deposit subscriptions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921" y="183904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642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subscription behavior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600200" y="20574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and campaign data to understand term-deposit subscription behavior.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2697480"/>
            <a:ext cx="10332720" cy="0"/>
          </a:xfrm>
          <a:prstGeom prst="line">
            <a:avLst/>
          </a:prstGeom>
          <a:noFill/>
          <a:ln w="12700">
            <a:solidFill>
              <a:srgbClr val="E3E7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8620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21" y="300947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83464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segments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600200" y="322783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customer segments and campaign factors associated with successful subscriptions.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" y="3867912"/>
            <a:ext cx="10332720" cy="0"/>
          </a:xfrm>
          <a:prstGeom prst="line">
            <a:avLst/>
          </a:prstGeom>
          <a:noFill/>
          <a:ln w="12700">
            <a:solidFill>
              <a:srgbClr val="E3E7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403250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s/phon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21" y="4179905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00507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contact strategy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600200" y="4398264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communication channels, contact frequency, call duration, and account characteristics.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31520" y="5038344"/>
            <a:ext cx="10332720" cy="0"/>
          </a:xfrm>
          <a:prstGeom prst="line">
            <a:avLst/>
          </a:prstGeom>
          <a:noFill/>
          <a:ln w="12700">
            <a:solidFill>
              <a:srgbClr val="E3E7F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52029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s/targ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21" y="5350337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17550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better targeting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1600200" y="5568696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data-driven insights to support more effective customer targeting and marketing decisions.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5671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Analytical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data and the toolkit used to analyze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98699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35000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89,945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96112" y="2734056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42232" y="16002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98264" y="185623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023" y="198699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98264" y="235000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398264" y="2734056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644384" y="16002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00416" y="1856232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icons/cpu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175" y="1986991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00416" y="235000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7900416" y="2734056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platform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4008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WORKFLOW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3749040"/>
            <a:ext cx="184708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49808" y="38221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13232" y="4041648"/>
            <a:ext cx="17007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2468880" y="40050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2706624" y="3749040"/>
            <a:ext cx="184708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816352" y="38221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2779776" y="4041648"/>
            <a:ext cx="17007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535424" y="40050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4773168" y="3749040"/>
            <a:ext cx="184708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882896" y="38221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846320" y="4041648"/>
            <a:ext cx="17007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601968" y="40050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6839712" y="3749040"/>
            <a:ext cx="184708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949440" y="38221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6912864" y="4041648"/>
            <a:ext cx="17007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8668512" y="40050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8906256" y="3749040"/>
            <a:ext cx="184708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9015984" y="38221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8979408" y="4041648"/>
            <a:ext cx="170078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96112" y="513892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1" name="Text 36"/>
          <p:cNvSpPr/>
          <p:nvPr/>
        </p:nvSpPr>
        <p:spPr>
          <a:xfrm>
            <a:off x="1097280" y="5056632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Pandas, NumPy, Matplotlib, Seaborn, Scikit-learn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896112" y="545896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3" name="Text 38"/>
          <p:cNvSpPr/>
          <p:nvPr/>
        </p:nvSpPr>
        <p:spPr>
          <a:xfrm>
            <a:off x="1097280" y="5376672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 were encoded for the Logistic Regression model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896112" y="57790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5" name="Text 40"/>
          <p:cNvSpPr/>
          <p:nvPr/>
        </p:nvSpPr>
        <p:spPr>
          <a:xfrm>
            <a:off x="1097280" y="5696712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assessed using Accuracy, Precision, Recall, F1 Score, and ROC-AUC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115671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Deposit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customer profiles behind subscription decisions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83428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642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600200" y="20574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to understand the customer base and identify relevant age segments.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2633472"/>
            <a:ext cx="10332720" cy="0"/>
          </a:xfrm>
          <a:prstGeom prst="line">
            <a:avLst/>
          </a:prstGeom>
          <a:noFill/>
          <a:ln w="12700">
            <a:solidFill>
              <a:srgbClr val="E3E7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briefc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288584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7157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categories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600200" y="31089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identify differences in term-deposit subscription behavior.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" y="3685032"/>
            <a:ext cx="10332720" cy="0"/>
          </a:xfrm>
          <a:prstGeom prst="line">
            <a:avLst/>
          </a:prstGeom>
          <a:noFill/>
          <a:ln w="12700">
            <a:solidFill>
              <a:srgbClr val="E3E7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s/dollarsig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93740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76732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account balance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600200" y="41605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between customers who subscribed and those who did not.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9" name="Shape 14"/>
          <p:cNvSpPr/>
          <p:nvPr/>
        </p:nvSpPr>
        <p:spPr>
          <a:xfrm>
            <a:off x="868680" y="523036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3" descr="icons/targ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373014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600200" y="544068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+ subscription behavior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15671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Effectiveness &amp; Correlation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contact strategy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pho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8223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733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method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508760" y="202082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using subscription rates to evaluate communication effectiveness.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152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icons/repea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273679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5877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frequency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508760" y="293522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contact frequency was analyzed against subscription outcomes.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icons/c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365119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5021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duration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508760" y="384962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as an indicator of customer engagement.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731520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15200" y="169164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/>
        </p:spPr>
      </p:sp>
      <p:sp>
        <p:nvSpPr>
          <p:cNvPr id="18" name="Shape 13"/>
          <p:cNvSpPr/>
          <p:nvPr/>
        </p:nvSpPr>
        <p:spPr>
          <a:xfrm>
            <a:off x="7936992" y="169164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9FAFD5"/>
          </a:solidFill>
          <a:ln/>
        </p:spPr>
      </p:sp>
      <p:sp>
        <p:nvSpPr>
          <p:cNvPr id="19" name="Shape 14"/>
          <p:cNvSpPr/>
          <p:nvPr/>
        </p:nvSpPr>
        <p:spPr>
          <a:xfrm>
            <a:off x="8558784" y="169164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B0C1E5"/>
          </a:solidFill>
          <a:ln/>
        </p:spPr>
      </p:sp>
      <p:sp>
        <p:nvSpPr>
          <p:cNvPr id="20" name="Shape 15"/>
          <p:cNvSpPr/>
          <p:nvPr/>
        </p:nvSpPr>
        <p:spPr>
          <a:xfrm>
            <a:off x="9180576" y="169164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8E9DC6"/>
          </a:solidFill>
          <a:ln/>
        </p:spPr>
      </p:sp>
      <p:sp>
        <p:nvSpPr>
          <p:cNvPr id="21" name="Shape 16"/>
          <p:cNvSpPr/>
          <p:nvPr/>
        </p:nvSpPr>
        <p:spPr>
          <a:xfrm>
            <a:off x="9802368" y="169164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B9CAED"/>
          </a:solidFill>
          <a:ln/>
        </p:spPr>
      </p:sp>
      <p:sp>
        <p:nvSpPr>
          <p:cNvPr id="22" name="Shape 17"/>
          <p:cNvSpPr/>
          <p:nvPr/>
        </p:nvSpPr>
        <p:spPr>
          <a:xfrm>
            <a:off x="7315200" y="2313432"/>
            <a:ext cx="566928" cy="566928"/>
          </a:xfrm>
          <a:prstGeom prst="roundRect">
            <a:avLst>
              <a:gd name="adj" fmla="val 3226"/>
            </a:avLst>
          </a:prstGeom>
          <a:solidFill>
            <a:srgbClr val="9FAFD5"/>
          </a:solidFill>
          <a:ln/>
        </p:spPr>
      </p:sp>
      <p:sp>
        <p:nvSpPr>
          <p:cNvPr id="23" name="Shape 18"/>
          <p:cNvSpPr/>
          <p:nvPr/>
        </p:nvSpPr>
        <p:spPr>
          <a:xfrm>
            <a:off x="7936992" y="2313432"/>
            <a:ext cx="566928" cy="566928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/>
        </p:spPr>
      </p:sp>
      <p:sp>
        <p:nvSpPr>
          <p:cNvPr id="24" name="Shape 19"/>
          <p:cNvSpPr/>
          <p:nvPr/>
        </p:nvSpPr>
        <p:spPr>
          <a:xfrm>
            <a:off x="8558784" y="2313432"/>
            <a:ext cx="566928" cy="566928"/>
          </a:xfrm>
          <a:prstGeom prst="roundRect">
            <a:avLst>
              <a:gd name="adj" fmla="val 3226"/>
            </a:avLst>
          </a:prstGeom>
          <a:solidFill>
            <a:srgbClr val="6B78A7"/>
          </a:solidFill>
          <a:ln/>
        </p:spPr>
      </p:sp>
      <p:sp>
        <p:nvSpPr>
          <p:cNvPr id="25" name="Shape 20"/>
          <p:cNvSpPr/>
          <p:nvPr/>
        </p:nvSpPr>
        <p:spPr>
          <a:xfrm>
            <a:off x="9180576" y="2313432"/>
            <a:ext cx="566928" cy="566928"/>
          </a:xfrm>
          <a:prstGeom prst="roundRect">
            <a:avLst>
              <a:gd name="adj" fmla="val 3226"/>
            </a:avLst>
          </a:prstGeom>
          <a:solidFill>
            <a:srgbClr val="A8B8DD"/>
          </a:solidFill>
          <a:ln/>
        </p:spPr>
      </p:sp>
      <p:sp>
        <p:nvSpPr>
          <p:cNvPr id="26" name="Shape 21"/>
          <p:cNvSpPr/>
          <p:nvPr/>
        </p:nvSpPr>
        <p:spPr>
          <a:xfrm>
            <a:off x="9802368" y="2313432"/>
            <a:ext cx="566928" cy="566928"/>
          </a:xfrm>
          <a:prstGeom prst="roundRect">
            <a:avLst>
              <a:gd name="adj" fmla="val 3226"/>
            </a:avLst>
          </a:prstGeom>
          <a:solidFill>
            <a:srgbClr val="96A6CE"/>
          </a:solidFill>
          <a:ln/>
        </p:spPr>
      </p:sp>
      <p:sp>
        <p:nvSpPr>
          <p:cNvPr id="27" name="Shape 22"/>
          <p:cNvSpPr/>
          <p:nvPr/>
        </p:nvSpPr>
        <p:spPr>
          <a:xfrm>
            <a:off x="7315200" y="2935224"/>
            <a:ext cx="566928" cy="566928"/>
          </a:xfrm>
          <a:prstGeom prst="roundRect">
            <a:avLst>
              <a:gd name="adj" fmla="val 3226"/>
            </a:avLst>
          </a:prstGeom>
          <a:solidFill>
            <a:srgbClr val="B0C1E5"/>
          </a:solidFill>
          <a:ln/>
        </p:spPr>
      </p:sp>
      <p:sp>
        <p:nvSpPr>
          <p:cNvPr id="28" name="Shape 23"/>
          <p:cNvSpPr/>
          <p:nvPr/>
        </p:nvSpPr>
        <p:spPr>
          <a:xfrm>
            <a:off x="7936992" y="2935224"/>
            <a:ext cx="566928" cy="566928"/>
          </a:xfrm>
          <a:prstGeom prst="roundRect">
            <a:avLst>
              <a:gd name="adj" fmla="val 3226"/>
            </a:avLst>
          </a:prstGeom>
          <a:solidFill>
            <a:srgbClr val="6B78A7"/>
          </a:solidFill>
          <a:ln/>
        </p:spPr>
      </p:sp>
      <p:sp>
        <p:nvSpPr>
          <p:cNvPr id="29" name="Shape 24"/>
          <p:cNvSpPr/>
          <p:nvPr/>
        </p:nvSpPr>
        <p:spPr>
          <a:xfrm>
            <a:off x="8558784" y="2935224"/>
            <a:ext cx="566928" cy="566928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/>
        </p:spPr>
      </p:sp>
      <p:sp>
        <p:nvSpPr>
          <p:cNvPr id="30" name="Shape 25"/>
          <p:cNvSpPr/>
          <p:nvPr/>
        </p:nvSpPr>
        <p:spPr>
          <a:xfrm>
            <a:off x="9180576" y="2935224"/>
            <a:ext cx="566928" cy="566928"/>
          </a:xfrm>
          <a:prstGeom prst="roundRect">
            <a:avLst>
              <a:gd name="adj" fmla="val 3226"/>
            </a:avLst>
          </a:prstGeom>
          <a:solidFill>
            <a:srgbClr val="ABBBE0"/>
          </a:solidFill>
          <a:ln/>
        </p:spPr>
      </p:sp>
      <p:sp>
        <p:nvSpPr>
          <p:cNvPr id="31" name="Shape 26"/>
          <p:cNvSpPr/>
          <p:nvPr/>
        </p:nvSpPr>
        <p:spPr>
          <a:xfrm>
            <a:off x="9802368" y="2935224"/>
            <a:ext cx="566928" cy="566928"/>
          </a:xfrm>
          <a:prstGeom prst="roundRect">
            <a:avLst>
              <a:gd name="adj" fmla="val 3226"/>
            </a:avLst>
          </a:prstGeom>
          <a:solidFill>
            <a:srgbClr val="8290BB"/>
          </a:solidFill>
          <a:ln/>
        </p:spPr>
      </p:sp>
      <p:sp>
        <p:nvSpPr>
          <p:cNvPr id="32" name="Shape 27"/>
          <p:cNvSpPr/>
          <p:nvPr/>
        </p:nvSpPr>
        <p:spPr>
          <a:xfrm>
            <a:off x="7315200" y="355701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8E9DC6"/>
          </a:solidFill>
          <a:ln/>
        </p:spPr>
      </p:sp>
      <p:sp>
        <p:nvSpPr>
          <p:cNvPr id="33" name="Shape 28"/>
          <p:cNvSpPr/>
          <p:nvPr/>
        </p:nvSpPr>
        <p:spPr>
          <a:xfrm>
            <a:off x="7936992" y="355701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A8B8DD"/>
          </a:solidFill>
          <a:ln/>
        </p:spPr>
      </p:sp>
      <p:sp>
        <p:nvSpPr>
          <p:cNvPr id="34" name="Shape 29"/>
          <p:cNvSpPr/>
          <p:nvPr/>
        </p:nvSpPr>
        <p:spPr>
          <a:xfrm>
            <a:off x="8558784" y="355701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ABBBE0"/>
          </a:solidFill>
          <a:ln/>
        </p:spPr>
      </p:sp>
      <p:sp>
        <p:nvSpPr>
          <p:cNvPr id="35" name="Shape 30"/>
          <p:cNvSpPr/>
          <p:nvPr/>
        </p:nvSpPr>
        <p:spPr>
          <a:xfrm>
            <a:off x="9180576" y="355701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/>
        </p:spPr>
      </p:sp>
      <p:sp>
        <p:nvSpPr>
          <p:cNvPr id="36" name="Shape 31"/>
          <p:cNvSpPr/>
          <p:nvPr/>
        </p:nvSpPr>
        <p:spPr>
          <a:xfrm>
            <a:off x="9802368" y="355701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A4B4DA"/>
          </a:solidFill>
          <a:ln/>
        </p:spPr>
      </p:sp>
      <p:sp>
        <p:nvSpPr>
          <p:cNvPr id="37" name="Shape 32"/>
          <p:cNvSpPr/>
          <p:nvPr/>
        </p:nvSpPr>
        <p:spPr>
          <a:xfrm>
            <a:off x="7315200" y="4178808"/>
            <a:ext cx="566928" cy="566928"/>
          </a:xfrm>
          <a:prstGeom prst="roundRect">
            <a:avLst>
              <a:gd name="adj" fmla="val 3226"/>
            </a:avLst>
          </a:prstGeom>
          <a:solidFill>
            <a:srgbClr val="B9CAED"/>
          </a:solidFill>
          <a:ln/>
        </p:spPr>
      </p:sp>
      <p:sp>
        <p:nvSpPr>
          <p:cNvPr id="38" name="Shape 33"/>
          <p:cNvSpPr/>
          <p:nvPr/>
        </p:nvSpPr>
        <p:spPr>
          <a:xfrm>
            <a:off x="7936992" y="4178808"/>
            <a:ext cx="566928" cy="566928"/>
          </a:xfrm>
          <a:prstGeom prst="roundRect">
            <a:avLst>
              <a:gd name="adj" fmla="val 3226"/>
            </a:avLst>
          </a:prstGeom>
          <a:solidFill>
            <a:srgbClr val="96A6CE"/>
          </a:solidFill>
          <a:ln/>
        </p:spPr>
      </p:sp>
      <p:sp>
        <p:nvSpPr>
          <p:cNvPr id="39" name="Shape 34"/>
          <p:cNvSpPr/>
          <p:nvPr/>
        </p:nvSpPr>
        <p:spPr>
          <a:xfrm>
            <a:off x="8558784" y="4178808"/>
            <a:ext cx="566928" cy="566928"/>
          </a:xfrm>
          <a:prstGeom prst="roundRect">
            <a:avLst>
              <a:gd name="adj" fmla="val 3226"/>
            </a:avLst>
          </a:prstGeom>
          <a:solidFill>
            <a:srgbClr val="8290BB"/>
          </a:solidFill>
          <a:ln/>
        </p:spPr>
      </p:sp>
      <p:sp>
        <p:nvSpPr>
          <p:cNvPr id="40" name="Shape 35"/>
          <p:cNvSpPr/>
          <p:nvPr/>
        </p:nvSpPr>
        <p:spPr>
          <a:xfrm>
            <a:off x="9180576" y="4178808"/>
            <a:ext cx="566928" cy="566928"/>
          </a:xfrm>
          <a:prstGeom prst="roundRect">
            <a:avLst>
              <a:gd name="adj" fmla="val 3226"/>
            </a:avLst>
          </a:prstGeom>
          <a:solidFill>
            <a:srgbClr val="A4B4DA"/>
          </a:solidFill>
          <a:ln/>
        </p:spPr>
      </p:sp>
      <p:sp>
        <p:nvSpPr>
          <p:cNvPr id="41" name="Shape 36"/>
          <p:cNvSpPr/>
          <p:nvPr/>
        </p:nvSpPr>
        <p:spPr>
          <a:xfrm>
            <a:off x="9802368" y="4178808"/>
            <a:ext cx="566928" cy="566928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/>
        </p:spPr>
      </p:sp>
      <p:sp>
        <p:nvSpPr>
          <p:cNvPr id="42" name="Text 37"/>
          <p:cNvSpPr/>
          <p:nvPr/>
        </p:nvSpPr>
        <p:spPr>
          <a:xfrm>
            <a:off x="7315200" y="4937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heatmap was used to explore relationships among numerical variables.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68680" y="52303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5" name="Image 3" descr="icons/trendingu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373014"/>
            <a:ext cx="263347" cy="263347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600200" y="523036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provides practical direction for optimizing campaign targeting and customer contact strategies.</a:t>
            </a:r>
            <a:endParaRPr lang="en-US" sz="1300" dirty="0"/>
          </a:p>
        </p:txBody>
      </p:sp>
      <p:sp>
        <p:nvSpPr>
          <p:cNvPr id="47" name="Text 41"/>
          <p:cNvSpPr/>
          <p:nvPr/>
        </p:nvSpPr>
        <p:spPr>
          <a:xfrm>
            <a:off x="115671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Analysis &amp; Model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as a supporting predictive-analysis technique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647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91.64%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3134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70632" y="16002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770632" y="17647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94.24%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70632" y="23134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01184" y="16002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901184" y="17647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71.00%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01184" y="231343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360920" y="1554480"/>
          <a:ext cx="41605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40080" y="30632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43.53%   |   F1 Score: 53.97%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611880"/>
            <a:ext cx="6309360" cy="2331720"/>
          </a:xfrm>
          <a:prstGeom prst="roundRect">
            <a:avLst>
              <a:gd name="adj" fmla="val 3137"/>
            </a:avLst>
          </a:prstGeom>
          <a:solidFill>
            <a:srgbClr val="F7F8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38404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0" descr="icons/eye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" y="3971239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54480" y="3813048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ROC-AUC indicates strong separation between subscription classes.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68680" y="4892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1" descr="icons/filt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502279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4864608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lower recall shows that identifying all potential subscribers remains an area for improvement.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5671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2926080" cy="2926080"/>
          </a:xfrm>
          <a:prstGeom prst="ellipse">
            <a:avLst/>
          </a:prstGeom>
          <a:solidFill>
            <a:srgbClr val="24317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 &amp; 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analysis into action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icons/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105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645920"/>
            <a:ext cx="44531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customer segments showing stronger subscription potential.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" name="Image 1" descr="icons/check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105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1645920"/>
            <a:ext cx="44531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campaign-performance insights to select effective communication channels.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2" descr="icons/checkcirc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86207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53312" y="2697480"/>
            <a:ext cx="44531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excessive contacts and focus on meaningful customer interactions.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263640" y="27432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3" descr="icons/check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86207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85432" y="2697480"/>
            <a:ext cx="44531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predictive scores as a supporting tool for campaign prioritization, not as the sole decision criterion.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31520" y="3977640"/>
            <a:ext cx="10698480" cy="1417320"/>
          </a:xfrm>
          <a:prstGeom prst="roundRect">
            <a:avLst>
              <a:gd name="adj" fmla="val 6452"/>
            </a:avLst>
          </a:prstGeom>
          <a:solidFill>
            <a:srgbClr val="24317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005840" y="434340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4" descr="icons/awar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148" y="4521708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965960" y="416052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the project demonstrates practical Data Analysis skills — from raw data exploration to actionable business recommendations.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15671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2026-08-11T16:33:32Z</dcterms:created>
  <dcterms:modified xsi:type="dcterms:W3CDTF">2026-08-11T16:33:32Z</dcterms:modified>
</cp:coreProperties>
</file>